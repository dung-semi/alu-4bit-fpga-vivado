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[LỜI NÓI SLIDE 1 - GIỚI THIỆU (30 giây)]:</a:t>
            </a:r>
          </a:p>
          <a:p>
            <a:r>
              <a:t>Xin chào thầy/cô. Em là Lê Kỳ Dũng, mã số sinh viên SE190745.</a:t>
            </a:r>
          </a:p>
          <a:p>
            <a:r>
              <a:t>Hôm nay em xin trình bày Project 1: Thiết kế RTL, kiểm thử tự động (Self-checking testbench) và triển khai vật lý trên FPGA Artix-7 cho bộ ALU 4-bit có chia sẻ tài nguyên (ALU_4bit_SE190745) thực hiện trên Vivado 2026.1.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[LỜI NÓI SLIDE 2 - CẤU TRÚC PHÂN CẤP &amp; GIAO DIỆN CỔNG (45 giây)]:</a:t>
            </a:r>
          </a:p>
          <a:p>
            <a:r>
              <a:t>Ở Phần A (15 điểm), dự án gồm 8 file Verilog khả tổng hợp, tất cả đều có Header Comment ghi rõ tên Lê Kỳ Dũng và mã số SE190745.</a:t>
            </a:r>
          </a:p>
          <a:p>
            <a:r>
              <a:t>Module đỉnh alu_4bit.v kết nối 6 khối chức năng con (ctrl, adder_sub_u, logic_u, shifter_u, muldiv_u, flags_u) với đúng 30 chân I/O (15 chân ngõ vào và 15 chân ngõ ra) tuân thủ tuyệt đối quy tắc đặt tên của đề bài.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[LỜI NÓI SLIDE 3 - CHIA SẺ BỘ CỘNG QUA MUX (45 giây)]:</a:t>
            </a:r>
          </a:p>
          <a:p>
            <a:r>
              <a:t>Điểm nhấn kỹ thuật quan trọng nhất trong thiết kế của em là cơ chế Chia sẻ bộ cộng (Shared-Adder Datapath).</a:t>
            </a:r>
          </a:p>
          <a:p>
            <a:r>
              <a:t>Thay vì tạo thêm bộ cộng riêng trong khối nhân/chia tuần tự, em sử dụng 3 bộ MUX 2-sang-1 điều khiển bởi tín hiệu 'busy':</a:t>
            </a:r>
          </a:p>
          <a:p>
            <a:r>
              <a:t>- Khi busy = 0 (chế độ tổ hợp): 3 bộ MUX đưa trực tiếp ngõ vào a, b và tín hiệu 'sub' vào bộ cộng/trừ 4-bit.</a:t>
            </a:r>
          </a:p>
          <a:p>
            <a:r>
              <a:t>- Khi busy = 1 (chế độ nhân/chia tuần tự 4 chu kỳ): 3 bộ MUX tự động chuyển mạch sang đường dữ liệu thanh ghi tích lũy nội bộ (add_a, add_b, is_div). Nhờ vậy toàn bộ ALU chỉ tốn 60 LUTs trên Artix-7.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[LỜI NÓI SLIDE 4 - PHƯƠNG TRÌNH LOGIC 4 KHỐI CON (45 giây)]:</a:t>
            </a:r>
          </a:p>
          <a:p>
            <a:r>
              <a:t>Slide này tóm tắt phương trình đại số Boolean của các khối con:</a:t>
            </a:r>
          </a:p>
          <a:p>
            <a:r>
              <a:t>1. Bộ cộng/trừ nối tầng 4 Full Adder thực hiện phép trừ bù 2 thông qua cổng XOR (b_inv = b ^ sub) và c0 = sub.</a:t>
            </a:r>
          </a:p>
          <a:p>
            <a:r>
              <a:t>2. Bộ giải mã lệnh (control_unit) giải mã trực tiếp từ 4 bit opcode.</a:t>
            </a:r>
          </a:p>
          <a:p>
            <a:r>
              <a:t>3. Khối nhân/chia tuần tự dùng bộ đếm 2-bit chạy đúng 4 chu kỳ xung nhịp; nếu phát hiện chia cho 0 (b = 0) sẽ bỏ qua vòng lặp và bật ngay cờ div_by_zero = 1.</a:t>
            </a:r>
          </a:p>
          <a:p>
            <a:r>
              <a:t>4. Khối tính cờ (flag_unit) tính chính xác 4 cờ C, Z, V, 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[LỜI NÓI SLIDE 5 - CẤU TRÚC TESTBENCH (45 giây)]:</a:t>
            </a:r>
          </a:p>
          <a:p>
            <a:r>
              <a:t>Ở Phần B (10 điểm), file testbench alu_4bit_tb.v đáp ứng đầy đủ 4 tiêu chí chấm điểm:</a:t>
            </a:r>
          </a:p>
          <a:p>
            <a:r>
              <a:t>1. In rõ tên sinh viên LE KY DUNG và mã số SE190745 ngay đầu mô phỏng.</a:t>
            </a:r>
          </a:p>
          <a:p>
            <a:r>
              <a:t>2. Bao phủ trọn vẹn cả Part 1 (8 lệnh tổ hợp từ 20 đến 180 ns) và Part 2 (nhân/chia tuần tự và chia cho 0 từ 180 đến 385 ns).</a:t>
            </a:r>
          </a:p>
          <a:p>
            <a:r>
              <a:t>3. Tự động đối chiếu kết quả qua bộ đếm lỗi 32-bit error_count và kết thúc bằng dòng lệnh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[LỜI NÓI SLIDE 6 - MINH CHỨNG DÒNG CHỮ PASS TRÊN TCL CONSOLE (30 giây)]:</a:t>
            </a:r>
          </a:p>
          <a:p>
            <a:r>
              <a:t>Trên slide này là nội dung trích xuất phóng to từ cửa sổ Tcl Console trong ảnh chụp F3.png và F4.png của em:</a:t>
            </a:r>
          </a:p>
          <a:p>
            <a:r>
              <a:t>Thầy/cô có thể thấy rõ dòng STUDENT NAME: LE KY DUNG, ROLL NUMBER: SE190745 ở đầu, kết quả kiểm tra [OK] cho cả Part 1 lẫn Part 2, và kết thúc ở thời điểm 385 ns bằng dòng chữ: PASS: ALL 11 TEST CASES VERIFIED SUCCESSFULLY (0 ERRORS).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[LỜI NÓI SLIDE 7 - PART C: TRUTH / STEP TABLE (1 phút)]:</a:t>
            </a:r>
          </a:p>
          <a:p>
            <a:r>
              <a:t>Ở Phần C (10 điểm), bảng Truth/Step Table gồm 12 mốc thời gian từ 0 đến 385 ns được điền trực tiếp từ kết quả mô phỏng của em và khớp 100% với Waveform trong ảnh F3 và F4.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[LỜI NÓI SLIDE 8 - F1 (1 phút)]:</a:t>
            </a:r>
          </a:p>
          <a:p>
            <a:r>
              <a:t>Bước 1 (Ảnh F1): Khởi tạo project ALU_4bit_SE190745, hiển thị rõ cây phân cấp 6 module con dưới alu_4bit, phần header comment có tên Lê Kỳ Dũng - SE190745 và báo 0 lỗi cú pháp.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[LỜI NÓI SLIDE 9 - F2 (1 phút)]:</a:t>
            </a:r>
          </a:p>
          <a:p>
            <a:r>
              <a:t>Bước 2 (Ảnh F2): Mở Elaborated Design tạo ra sơ đồ gồm 10 cells (6 module con + 4 bộ MUX chia sẻ bộ cộng), 30 cổng I/O và 92 đường dây. Cảnh báo tĩnh ASSIGN-10#1 ở flag_unit là hoàn toàn đúng thiết kế vì cờ Carry chỉ đọc bit a[3] và a[0].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[LỜI NÓI SLIDE 10 - F3 (1 phút)]:</a:t>
            </a:r>
          </a:p>
          <a:p>
            <a:r>
              <a:t>Bước 3 (Ảnh F3): Mô phỏng hành vi Part 1 cho 8 phép toán tổ hợp từ 0 đến 220 ns. Con trỏ tại 20 ns xác nhận 5 + 3 = 08, và cửa sổ Tcl Console bên dưới hiển thị rõ tên LE KY DUNG cùng mã số SE190745.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[LỜI NÓI SLIDE 11 - F4 (1 phút)]:</a:t>
            </a:r>
          </a:p>
          <a:p>
            <a:r>
              <a:t>Bước 4 (Ảnh F4): Mô phỏng hành vi Part 2 từ 180 đến 385 ns xác nhận phép nhân 7*6=2a, phép chia 13/3=14 (dư 1, thương 4), phép chia 8/0 bật cờ div_by_zero=1, và dòng chữ PASS: ALL 11 TEST CASES VERIFIED SUCCESSFULLY (0 ERRORS) ở Tcl Console.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[LỜI NÓI SLIDE 12 - F5 (1 phút)]:</a:t>
            </a:r>
          </a:p>
          <a:p>
            <a:r>
              <a:t>Bước 5 (Ảnh F5): Sau khi chạy Synthesis và Implementation, toàn bộ ALU chỉ sử dụng 60 LUTs (0.09%), 26 Flip-Flops (0.02%), 30 IOBs và 1 BUFG trên chip Artix-7.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[LỜI NÓI SLIDE 13 - F6 &amp; KẾT LUẬN (1 phút)]:</a:t>
            </a:r>
          </a:p>
          <a:p>
            <a:r>
              <a:t>Bước 6 (Ảnh F6): Sơ đồ Device Floorplan xác nhận toàn bộ các khối logic được đặt gọn trong vùng xung nhịp X0Y1 tại ô CLBLM_R_X3Y63 (SLICE_X2Y63 và SLICE_X3Y63). Em xin cảm ơn thầy/cô và sẵn sàng trả lời các câu hỏi Viva ạ!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8BEFF"/>
                </a:solidFill>
              </a:defRPr>
            </a:pPr>
            <a:r>
              <a:t>P1 PROJECT: BUILD A 4-BIT CPU DATAPATH FROM GATE-LEVEL</a:t>
            </a:r>
          </a:p>
          <a:p>
            <a:pPr>
              <a:spcBef>
                <a:spcPts val="1000"/>
              </a:spcBef>
              <a:defRPr sz="2700" b="1">
                <a:solidFill>
                  <a:srgbClr val="FFFFFF"/>
                </a:solidFill>
              </a:defRPr>
            </a:pPr>
            <a:r>
              <a:t>Design, Self-Checking Verification, and FPGA Implementation of a Resource-Shared 4-Bit Arithmetic Logic Unit (ALU_4bit_SE190745)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301752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7223760"/>
              </a:tblGrid>
              <a:tr h="457200">
                <a:tc>
                  <a:txBody>
                    <a:bodyPr/>
                    <a:lstStyle/>
                    <a:p>
                      <a:pPr>
                        <a:defRPr sz="1450" b="1"/>
                      </a:pPr>
                      <a:r>
                        <a:t>Student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50"/>
                      </a:pPr>
                      <a:r>
                        <a:t>Lê Kỳ Dũng (Le Ky Dung)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50" b="1"/>
                      </a:pPr>
                      <a:r>
                        <a:t>Roll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50"/>
                      </a:pPr>
                      <a:r>
                        <a:t>SE190745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50" b="1"/>
                      </a:pPr>
                      <a:r>
                        <a:t>Department / Institution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50"/>
                      </a:pPr>
                      <a:r>
                        <a:t>Department of Microelectronics and IC Design - FPT University HCMC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50" b="1"/>
                      </a:pPr>
                      <a:r>
                        <a:t>Project Title &amp; Top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50"/>
                      </a:pPr>
                      <a:r>
                        <a:t>ALU_4bit_SE190745 (Top-level module: alu_4bit.v)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50" b="1"/>
                      </a:pPr>
                      <a:r>
                        <a:t>EDA Tool &amp; Target FPGA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50"/>
                      </a:pPr>
                      <a:r>
                        <a:t>AMD Xilinx Vivado 2026.1 | Artix-7 FPGA (xc7a100tcsg324-1)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50" b="1"/>
                      </a:pPr>
                      <a:r>
                        <a:t>Architectural Highlight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50"/>
                      </a:pPr>
                      <a:r>
                        <a:t>Resource-Shared 4-Bit Ripple-Carry Adder across Combinational &amp; Sequential Mul/Div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50" b="1"/>
                      </a:pPr>
                      <a:r>
                        <a:t>Verification &amp; Area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50"/>
                      </a:pPr>
                      <a:r>
                        <a:t>PASS (11/11 Test Cases, 0 Errors) | 60 LUTs (0.09%), 26 FFs (0.02%), 30 IOBs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Part A (1/3): Hierarchical RTL Structure &amp; Port Specification (15 Marks)</a:t>
            </a:r>
          </a:p>
          <a:p>
            <a:pPr>
              <a:defRPr sz="1200">
                <a:solidFill>
                  <a:srgbClr val="BED7FF"/>
                </a:solidFill>
              </a:defRPr>
            </a:pPr>
            <a:r>
              <a:t>P1 Project: ALU_4bit_SE190745 | Le Ky Dung (SE190745) | AMD Xilinx Vivado 2026.1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43000"/>
            <a:ext cx="5577840" cy="534924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271016"/>
            <a:ext cx="5248655" cy="5093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66CC"/>
                </a:solidFill>
              </a:defRPr>
            </a:pPr>
            <a:r>
              <a:t>1. Modular RTL Hierarchy (6 Submodules)</a:t>
            </a:r>
          </a:p>
          <a:p>
            <a:pPr>
              <a:spcAft>
                <a:spcPts val="800"/>
              </a:spcAft>
              <a:defRPr sz="1600">
                <a:solidFill>
                  <a:srgbClr val="191919"/>
                </a:solidFill>
              </a:defRPr>
            </a:pPr>
            <a:r>
              <a:t>• Project Name: ALU_4bit_SE190745 (8 synthesizable Verilog files)</a:t>
            </a:r>
          </a:p>
          <a:p>
            <a:pPr>
              <a:spcAft>
                <a:spcPts val="800"/>
              </a:spcAft>
              <a:defRPr sz="1600">
                <a:solidFill>
                  <a:srgbClr val="191919"/>
                </a:solidFill>
              </a:defRPr>
            </a:pPr>
            <a:r>
              <a:t>• Header Comments: Standardized across all files with Author (Le Ky Dung) &amp; Roll Number (SE190745).</a:t>
            </a:r>
          </a:p>
          <a:p>
            <a:pPr>
              <a:spcAft>
                <a:spcPts val="800"/>
              </a:spcAft>
              <a:defRPr sz="1600">
                <a:solidFill>
                  <a:srgbClr val="191919"/>
                </a:solidFill>
              </a:defRPr>
            </a:pPr>
            <a:r>
              <a:t>• Top-Level Module (alu_4bit.v) integrates 6 submodules:</a:t>
            </a:r>
          </a:p>
          <a:p>
            <a:pPr>
              <a:spcAft>
                <a:spcPts val="800"/>
              </a:spcAft>
              <a:defRPr sz="1600">
                <a:solidFill>
                  <a:srgbClr val="191919"/>
                </a:solidFill>
              </a:defRPr>
            </a:pPr>
            <a:r>
              <a:t>    – 1. ctrl (control_unit.v): Opcode decoder</a:t>
            </a:r>
          </a:p>
          <a:p>
            <a:pPr>
              <a:spcAft>
                <a:spcPts val="800"/>
              </a:spcAft>
              <a:defRPr sz="1600">
                <a:solidFill>
                  <a:srgbClr val="191919"/>
                </a:solidFill>
              </a:defRPr>
            </a:pPr>
            <a:r>
              <a:t>    – 2. adder_sub_u (adder_subtractor_4bit.v + full_adder.v)</a:t>
            </a:r>
          </a:p>
          <a:p>
            <a:pPr>
              <a:spcAft>
                <a:spcPts val="800"/>
              </a:spcAft>
              <a:defRPr sz="1600">
                <a:solidFill>
                  <a:srgbClr val="191919"/>
                </a:solidFill>
              </a:defRPr>
            </a:pPr>
            <a:r>
              <a:t>    – 3. logic_u (logic_unit_4bit.v): Bitwise logic unit</a:t>
            </a:r>
          </a:p>
          <a:p>
            <a:pPr>
              <a:spcAft>
                <a:spcPts val="800"/>
              </a:spcAft>
              <a:defRPr sz="1600">
                <a:solidFill>
                  <a:srgbClr val="191919"/>
                </a:solidFill>
              </a:defRPr>
            </a:pPr>
            <a:r>
              <a:t>    – 4. shifter_u (shifter_4bit.v): 1-bit logical shifter</a:t>
            </a:r>
          </a:p>
          <a:p>
            <a:pPr>
              <a:spcAft>
                <a:spcPts val="800"/>
              </a:spcAft>
              <a:defRPr sz="1600">
                <a:solidFill>
                  <a:srgbClr val="191919"/>
                </a:solidFill>
              </a:defRPr>
            </a:pPr>
            <a:r>
              <a:t>    – 5. muldiv_u (muldiv_unit.v): 4-cycle Mul/Div FSM</a:t>
            </a:r>
          </a:p>
          <a:p>
            <a:pPr>
              <a:spcAft>
                <a:spcPts val="800"/>
              </a:spcAft>
              <a:defRPr sz="1600">
                <a:solidFill>
                  <a:srgbClr val="191919"/>
                </a:solidFill>
              </a:defRPr>
            </a:pPr>
            <a:r>
              <a:t>    – 6. flags_u (flag_unit.v): Status flags (C, Z, V, 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143000"/>
            <a:ext cx="5669280" cy="534924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91072" y="1271016"/>
            <a:ext cx="5340096" cy="5093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66CC"/>
                </a:solidFill>
              </a:defRPr>
            </a:pPr>
            <a:r>
              <a:t>2. Exact Module Port Interface (30 I/O Pins)</a:t>
            </a:r>
          </a:p>
          <a:p>
            <a:pPr>
              <a:spcAft>
                <a:spcPts val="800"/>
              </a:spcAft>
              <a:defRPr sz="1600">
                <a:solidFill>
                  <a:srgbClr val="191919"/>
                </a:solidFill>
              </a:defRPr>
            </a:pPr>
            <a:r>
              <a:t>• Total External Pins: 30 Bonded IOBs (15 Inputs + 15 Outputs)</a:t>
            </a:r>
          </a:p>
          <a:p>
            <a:pPr>
              <a:spcAft>
                <a:spcPts val="800"/>
              </a:spcAft>
              <a:defRPr sz="1600">
                <a:solidFill>
                  <a:srgbClr val="191919"/>
                </a:solidFill>
              </a:defRPr>
            </a:pPr>
            <a:r>
              <a:t>• Input Ports (15 bits):</a:t>
            </a:r>
          </a:p>
          <a:p>
            <a:pPr>
              <a:spcAft>
                <a:spcPts val="800"/>
              </a:spcAft>
              <a:defRPr sz="1600">
                <a:solidFill>
                  <a:srgbClr val="191919"/>
                </a:solidFill>
              </a:defRPr>
            </a:pPr>
            <a:r>
              <a:t>    – clk, rst, start (3 bits): System clock, sync reset, sequential trigger</a:t>
            </a:r>
          </a:p>
          <a:p>
            <a:pPr>
              <a:spcAft>
                <a:spcPts val="800"/>
              </a:spcAft>
              <a:defRPr sz="1600">
                <a:solidFill>
                  <a:srgbClr val="191919"/>
                </a:solidFill>
              </a:defRPr>
            </a:pPr>
            <a:r>
              <a:t>    – opcode[3:0] (4 bits): Selects 1 of 10 ALU operations (0000 to 1001)</a:t>
            </a:r>
          </a:p>
          <a:p>
            <a:pPr>
              <a:spcAft>
                <a:spcPts val="800"/>
              </a:spcAft>
              <a:defRPr sz="1600">
                <a:solidFill>
                  <a:srgbClr val="191919"/>
                </a:solidFill>
              </a:defRPr>
            </a:pPr>
            <a:r>
              <a:t>    – a[3:0], b[3:0] (8 bits): 4-bit operands A and B</a:t>
            </a:r>
          </a:p>
          <a:p>
            <a:pPr>
              <a:spcAft>
                <a:spcPts val="800"/>
              </a:spcAft>
              <a:defRPr sz="1600">
                <a:solidFill>
                  <a:srgbClr val="191919"/>
                </a:solidFill>
              </a:defRPr>
            </a:pPr>
            <a:r>
              <a:t>• Output Ports (15 bits):</a:t>
            </a:r>
          </a:p>
          <a:p>
            <a:pPr>
              <a:spcAft>
                <a:spcPts val="800"/>
              </a:spcAft>
              <a:defRPr sz="1600">
                <a:solidFill>
                  <a:srgbClr val="191919"/>
                </a:solidFill>
              </a:defRPr>
            </a:pPr>
            <a:r>
              <a:t>    – result[7:0] (8 bits): 8-bit output data bus</a:t>
            </a:r>
          </a:p>
          <a:p>
            <a:pPr>
              <a:spcAft>
                <a:spcPts val="800"/>
              </a:spcAft>
              <a:defRPr sz="1600">
                <a:solidFill>
                  <a:srgbClr val="191919"/>
                </a:solidFill>
              </a:defRPr>
            </a:pPr>
            <a:r>
              <a:t>    – carry, zero, overflow, negative (4 bits): Arithmetic/Logic flags</a:t>
            </a:r>
          </a:p>
          <a:p>
            <a:pPr>
              <a:spcAft>
                <a:spcPts val="800"/>
              </a:spcAft>
              <a:defRPr sz="1600">
                <a:solidFill>
                  <a:srgbClr val="191919"/>
                </a:solidFill>
              </a:defRPr>
            </a:pPr>
            <a:r>
              <a:t>    – busy, done, div_by_zero (3 bits): Handshake &amp; exception flags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Part A (2/3): Hardware Optimization – Shared-Adder Datapath (15 Marks)</a:t>
            </a:r>
          </a:p>
          <a:p>
            <a:pPr>
              <a:defRPr sz="1200">
                <a:solidFill>
                  <a:srgbClr val="BED7FF"/>
                </a:solidFill>
              </a:defRPr>
            </a:pPr>
            <a:r>
              <a:t>P1 Project: ALU_4bit_SE190745 | Le Ky Dung (SE190745) | AMD Xilinx Vivado 2026.1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43000"/>
            <a:ext cx="11457432" cy="2103120"/>
          </a:xfrm>
          <a:prstGeom prst="roundRect">
            <a:avLst>
              <a:gd name="adj" fmla="val 2000"/>
            </a:avLst>
          </a:prstGeom>
          <a:solidFill>
            <a:srgbClr val="EBF3FC"/>
          </a:solidFill>
          <a:ln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271016"/>
            <a:ext cx="11128248" cy="184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50" b="1">
                <a:solidFill>
                  <a:srgbClr val="0066CC"/>
                </a:solidFill>
              </a:defRPr>
            </a:pPr>
            <a:r>
              <a:t>Why Resource Sharing? (Achieving Ultra-Compact 60-LUT Footprint)</a:t>
            </a:r>
          </a:p>
          <a:p>
            <a:pPr>
              <a:spcAft>
                <a:spcPts val="800"/>
              </a:spcAft>
              <a:defRPr sz="1650">
                <a:solidFill>
                  <a:srgbClr val="191919"/>
                </a:solidFill>
              </a:defRPr>
            </a:pPr>
            <a:r>
              <a:t>• Core Architectural Idea: To minimize FPGA LUT utilization, the sequential multiplier/divider (muldiv_unit) does NOT instantiate a separate adder.</a:t>
            </a:r>
          </a:p>
          <a:p>
            <a:pPr>
              <a:spcAft>
                <a:spcPts val="800"/>
              </a:spcAft>
              <a:defRPr sz="1650">
                <a:solidFill>
                  <a:srgbClr val="191919"/>
                </a:solidFill>
              </a:defRPr>
            </a:pPr>
            <a:r>
              <a:t>• Dynamic Multiplexing: Three 2-to-1 multiplexers (mux_adder_a_i, mux_adder_b_i, mux_adder_sub_i) controlled by the 'busy' flag route operands to a SINGLE 4-bit Ripple-Carry Adder/Subtractor (adder_subtractor_4bit).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3474720"/>
          <a:ext cx="11457432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03120"/>
                <a:gridCol w="3566160"/>
                <a:gridCol w="3593592"/>
              </a:tblGrid>
              <a:tr h="74295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Multiplexer Instance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Target Port on Adder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Mode 0: Combinational (busy = 0)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Mode 1: Sequential Mul/Div (busy = 1)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91919"/>
                          </a:solidFill>
                        </a:defRPr>
                      </a:pPr>
                      <a:r>
                        <a:t>mux_adder_a_i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</a:defRPr>
                      </a:pPr>
                      <a:r>
                        <a:t>Operand A (4-bit)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</a:defRPr>
                      </a:pPr>
                      <a:r>
                        <a:t>External input a[3:0]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</a:defRPr>
                      </a:pPr>
                      <a:r>
                        <a:t>Internal accumulator wire add_a[3:0]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91919"/>
                          </a:solidFill>
                        </a:defRPr>
                      </a:pPr>
                      <a:r>
                        <a:t>mux_adder_b_i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</a:defRPr>
                      </a:pPr>
                      <a:r>
                        <a:t>Operand B (4-bit)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</a:defRPr>
                      </a:pPr>
                      <a:r>
                        <a:t>External input b[3:0]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</a:defRPr>
                      </a:pPr>
                      <a:r>
                        <a:t>Internal multiplicand/divisor add_b[3:0]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91919"/>
                          </a:solidFill>
                        </a:defRPr>
                      </a:pPr>
                      <a:r>
                        <a:t>mux_adder_sub_i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</a:defRPr>
                      </a:pPr>
                      <a:r>
                        <a:t>Mode Select (sub / c0)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</a:defRPr>
                      </a:pPr>
                      <a:r>
                        <a:t>Control signal 'sub' (Opcode 0001)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</a:defRPr>
                      </a:pPr>
                      <a:r>
                        <a:t>Control signal 'is_div' (Restoring Division)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Part A (3/3): Submodule Logic &amp; Boolean Equations (15 Marks)</a:t>
            </a:r>
          </a:p>
          <a:p>
            <a:pPr>
              <a:defRPr sz="1200">
                <a:solidFill>
                  <a:srgbClr val="BED7FF"/>
                </a:solidFill>
              </a:defRPr>
            </a:pPr>
            <a:r>
              <a:t>P1 Project: ALU_4bit_SE190745 | Le Ky Dung (SE190745) | AMD Xilinx Vivado 2026.1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43000"/>
            <a:ext cx="5577840" cy="256032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271016"/>
            <a:ext cx="5248655" cy="2304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 b="1">
                <a:solidFill>
                  <a:srgbClr val="0066CC"/>
                </a:solidFill>
              </a:defRPr>
            </a:pPr>
            <a:r>
              <a:t>1. Ripple-Carry Adder/Subtractor (full_adder.v)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• Chains four 1-bit Full Adders (fa0 to fa3):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    – sum_i = a_i ^ b_inv_i ^ c_i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    – c_(i+1) = (a_i &amp; b_inv_i) | ((a_i ^ b_inv_i) &amp; c_i)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• 2's Complement Subtraction (A - B = A + ~B + 1):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    – b_inv[i] = b[i] ^ sub, with initial carry-in c_0 = sub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143000"/>
            <a:ext cx="5669280" cy="256032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91072" y="1271016"/>
            <a:ext cx="5340096" cy="2304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 b="1">
                <a:solidFill>
                  <a:srgbClr val="0066CC"/>
                </a:solidFill>
              </a:defRPr>
            </a:pPr>
            <a:r>
              <a:t>2. Opcode Control Decoder (control_unit.v)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• Decodes opcode[3:0] into 6 active-high control signals: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    – sub = ~op[3] &amp; ~op[2] &amp; ~op[1] &amp; op[0]   (Opcode 0001)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    – arith = ~op[3] &amp; ~op[2] &amp; ~op[1]         (Opcodes 000x)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    – is_shl = ~op[3] &amp; op[2] &amp; op[1] &amp; ~op[0] (Opcode 0110)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    – is_shr = ~op[3] &amp; op[2] &amp; op[1] &amp; op[0]  (Opcode 0111)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    – is_muldiv = op[3] &amp; ~op[2] &amp; ~op[1]      (Opcodes 100x)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886200"/>
            <a:ext cx="5577840" cy="260604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4014215"/>
            <a:ext cx="5248655" cy="2350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 b="1">
                <a:solidFill>
                  <a:srgbClr val="0066CC"/>
                </a:solidFill>
              </a:defRPr>
            </a:pPr>
            <a:r>
              <a:t>3. Logic, Shifter &amp; Sequential Mul/Div (muldiv_unit.v)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• Logic &amp; Shifter: a&amp;b, a|b, a^b, ~a; SHL={a[2:0],1'b0}, SHR={1'b0,a[3:1]}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• Sequential Engine (2-bit cycle counter count[1:0] from 0 to 3):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    – 4-cycle Shift-and-Add MUL (op=8) &amp; Restoring DIV (op=9)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    – Outputs latched into {hi[3:0], lo[3:0]} when done = 1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    – Divide-by-Zero (b == 0): Immediately asserts div_by_zero = 1 &amp; done = 1 without entering calculation loop.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886200"/>
            <a:ext cx="5669280" cy="260604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4014215"/>
            <a:ext cx="5340096" cy="2350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 b="1">
                <a:solidFill>
                  <a:srgbClr val="0066CC"/>
                </a:solidFill>
              </a:defRPr>
            </a:pPr>
            <a:r>
              <a:t>4. Status Flag Equations (flag_unit.v)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• Overflow (V): overflow = arith &amp; (c3 ^ c4)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• Carry (C): carry = (arith &amp; c4) | (is_shl &amp; a[3]) | (is_shr &amp; a[0])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• Zero (Z): zero = is_muldiv ? ~(|result[7:0]) : ~(|result[3:0])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• Negative (N): negative = is_muldiv ? 1'b0 : result[3]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• Note: Only reads a[3] and a[0], explaining Linter rule ASSIGN-10#1.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Part B (1/2): Self-Checking Testbench Architecture (alu_4bit_tb.v) (10 Marks)</a:t>
            </a:r>
          </a:p>
          <a:p>
            <a:pPr>
              <a:defRPr sz="1200">
                <a:solidFill>
                  <a:srgbClr val="BED7FF"/>
                </a:solidFill>
              </a:defRPr>
            </a:pPr>
            <a:r>
              <a:t>P1 Project: ALU_4bit_SE190745 | Le Ky Dung (SE190745) | AMD Xilinx Vivado 2026.1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43000"/>
            <a:ext cx="3657600" cy="534924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271016"/>
            <a:ext cx="3328416" cy="5093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0066CC"/>
                </a:solidFill>
              </a:defRPr>
            </a:pPr>
            <a:r>
              <a:t>1. Identification &amp; Initialization</a:t>
            </a:r>
          </a:p>
          <a:p>
            <a:pPr>
              <a:spcAft>
                <a:spcPts val="800"/>
              </a:spcAft>
              <a:defRPr sz="1550">
                <a:solidFill>
                  <a:srgbClr val="191919"/>
                </a:solidFill>
              </a:defRPr>
            </a:pPr>
            <a:r>
              <a:t>• Prints student banner at 0 ns in Vivado Tcl Console:</a:t>
            </a:r>
          </a:p>
          <a:p>
            <a:pPr>
              <a:spcAft>
                <a:spcPts val="800"/>
              </a:spcAft>
              <a:defRPr sz="1550">
                <a:solidFill>
                  <a:srgbClr val="191919"/>
                </a:solidFill>
              </a:defRPr>
            </a:pPr>
            <a:r>
              <a:t>    – STUDENT NAME : LE KY DUNG</a:t>
            </a:r>
          </a:p>
          <a:p>
            <a:pPr>
              <a:spcAft>
                <a:spcPts val="800"/>
              </a:spcAft>
              <a:defRPr sz="1550">
                <a:solidFill>
                  <a:srgbClr val="191919"/>
                </a:solidFill>
              </a:defRPr>
            </a:pPr>
            <a:r>
              <a:t>    – ROLL NUMBER  : SE190745</a:t>
            </a:r>
          </a:p>
          <a:p>
            <a:pPr>
              <a:spcAft>
                <a:spcPts val="800"/>
              </a:spcAft>
              <a:defRPr sz="1550">
                <a:solidFill>
                  <a:srgbClr val="191919"/>
                </a:solidFill>
              </a:defRPr>
            </a:pPr>
            <a:r>
              <a:t>• Clock &amp; Reset Setup:</a:t>
            </a:r>
          </a:p>
          <a:p>
            <a:pPr>
              <a:spcAft>
                <a:spcPts val="800"/>
              </a:spcAft>
              <a:defRPr sz="1550">
                <a:solidFill>
                  <a:srgbClr val="191919"/>
                </a:solidFill>
              </a:defRPr>
            </a:pPr>
            <a:r>
              <a:t>    – 100 MHz clock (10 ns period: always #5 clk = ~clk)</a:t>
            </a:r>
          </a:p>
          <a:p>
            <a:pPr>
              <a:spcAft>
                <a:spcPts val="800"/>
              </a:spcAft>
              <a:defRPr sz="1550">
                <a:solidFill>
                  <a:srgbClr val="191919"/>
                </a:solidFill>
              </a:defRPr>
            </a:pPr>
            <a:r>
              <a:t>    – Asserts rst = 1 for 20 ns to initialize all registers to 00_hex.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143000"/>
            <a:ext cx="3657600" cy="534924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16552" y="1271016"/>
            <a:ext cx="3328416" cy="5093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0066CC"/>
                </a:solidFill>
              </a:defRPr>
            </a:pPr>
            <a:r>
              <a:t>2. Part 1 + Part 2 Coverage</a:t>
            </a:r>
          </a:p>
          <a:p>
            <a:pPr>
              <a:spcAft>
                <a:spcPts val="800"/>
              </a:spcAft>
              <a:defRPr sz="1550">
                <a:solidFill>
                  <a:srgbClr val="191919"/>
                </a:solidFill>
              </a:defRPr>
            </a:pPr>
            <a:r>
              <a:t>• Part 1 – Combinational (20 ns to 180 ns):</a:t>
            </a:r>
          </a:p>
          <a:p>
            <a:pPr>
              <a:spcAft>
                <a:spcPts val="800"/>
              </a:spcAft>
              <a:defRPr sz="1550">
                <a:solidFill>
                  <a:srgbClr val="191919"/>
                </a:solidFill>
              </a:defRPr>
            </a:pPr>
            <a:r>
              <a:t>    – Tests all 8 opcodes (0000 to 0111): ADD, SUB, AND, OR, XOR, NOT, SHL, SHR.</a:t>
            </a:r>
          </a:p>
          <a:p>
            <a:pPr>
              <a:spcAft>
                <a:spcPts val="800"/>
              </a:spcAft>
              <a:defRPr sz="1550">
                <a:solidFill>
                  <a:srgbClr val="191919"/>
                </a:solidFill>
              </a:defRPr>
            </a:pPr>
            <a:r>
              <a:t>• Part 2 – Sequential (180 ns to 385 ns):</a:t>
            </a:r>
          </a:p>
          <a:p>
            <a:pPr>
              <a:spcAft>
                <a:spcPts val="800"/>
              </a:spcAft>
              <a:defRPr sz="1550">
                <a:solidFill>
                  <a:srgbClr val="191919"/>
                </a:solidFill>
              </a:defRPr>
            </a:pPr>
            <a:r>
              <a:t>    – Tests 4-cycle MUL (7 * 6 = 42)</a:t>
            </a:r>
          </a:p>
          <a:p>
            <a:pPr>
              <a:spcAft>
                <a:spcPts val="800"/>
              </a:spcAft>
              <a:defRPr sz="1550">
                <a:solidFill>
                  <a:srgbClr val="191919"/>
                </a:solidFill>
              </a:defRPr>
            </a:pPr>
            <a:r>
              <a:t>    – Tests 4-cycle Restoring DIV (13 / 3 -&gt; Q=4, R=1)</a:t>
            </a:r>
          </a:p>
          <a:p>
            <a:pPr>
              <a:spcAft>
                <a:spcPts val="800"/>
              </a:spcAft>
              <a:defRPr sz="1550">
                <a:solidFill>
                  <a:srgbClr val="191919"/>
                </a:solidFill>
              </a:defRPr>
            </a:pPr>
            <a:r>
              <a:t>    – Tests Divide-by-Zero exception (8 / 0 -&gt; div_by_zero=1)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143000"/>
            <a:ext cx="3685032" cy="534924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271016"/>
            <a:ext cx="3355848" cy="5093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0066CC"/>
                </a:solidFill>
              </a:defRPr>
            </a:pPr>
            <a:r>
              <a:t>3. Self-Checking &amp; PASS Logic</a:t>
            </a:r>
          </a:p>
          <a:p>
            <a:pPr>
              <a:spcAft>
                <a:spcPts val="800"/>
              </a:spcAft>
              <a:defRPr sz="1550">
                <a:solidFill>
                  <a:srgbClr val="191919"/>
                </a:solidFill>
              </a:defRPr>
            </a:pPr>
            <a:r>
              <a:t>• 32-Bit Hardware Error Counter:</a:t>
            </a:r>
          </a:p>
          <a:p>
            <a:pPr>
              <a:spcAft>
                <a:spcPts val="800"/>
              </a:spcAft>
              <a:defRPr sz="1550">
                <a:solidFill>
                  <a:srgbClr val="191919"/>
                </a:solidFill>
              </a:defRPr>
            </a:pPr>
            <a:r>
              <a:t>    – Maintains error_count[31:0] initialized to 00000000.</a:t>
            </a:r>
          </a:p>
          <a:p>
            <a:pPr>
              <a:spcAft>
                <a:spcPts val="800"/>
              </a:spcAft>
              <a:defRPr sz="1550">
                <a:solidFill>
                  <a:srgbClr val="191919"/>
                </a:solidFill>
              </a:defRPr>
            </a:pPr>
            <a:r>
              <a:t>• Automated Verification Task:</a:t>
            </a:r>
          </a:p>
          <a:p>
            <a:pPr>
              <a:spcAft>
                <a:spcPts val="800"/>
              </a:spcAft>
              <a:defRPr sz="1550">
                <a:solidFill>
                  <a:srgbClr val="191919"/>
                </a:solidFill>
              </a:defRPr>
            </a:pPr>
            <a:r>
              <a:t>    – Compares actual result[7:0] and flags against expected golden values after each vector.</a:t>
            </a:r>
          </a:p>
          <a:p>
            <a:pPr>
              <a:spcAft>
                <a:spcPts val="800"/>
              </a:spcAft>
              <a:defRPr sz="1550">
                <a:solidFill>
                  <a:srgbClr val="191919"/>
                </a:solidFill>
              </a:defRPr>
            </a:pPr>
            <a:r>
              <a:t>• Final Verdict at 385 ns:</a:t>
            </a:r>
          </a:p>
          <a:p>
            <a:pPr>
              <a:spcAft>
                <a:spcPts val="800"/>
              </a:spcAft>
              <a:defRPr sz="1550">
                <a:solidFill>
                  <a:srgbClr val="191919"/>
                </a:solidFill>
              </a:defRPr>
            </a:pPr>
            <a:r>
              <a:t>    – Verifies error_count == 0 and prints mandatory PASS confirmation 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Part B (2/2): Vivado XSim Tcl Console Output &amp; PASS Verification (10 Marks)</a:t>
            </a:r>
          </a:p>
          <a:p>
            <a:pPr>
              <a:defRPr sz="1200">
                <a:solidFill>
                  <a:srgbClr val="BED7FF"/>
                </a:solidFill>
              </a:defRPr>
            </a:pPr>
            <a:r>
              <a:t>P1 Project: ALU_4bit_SE190745 | Le Ky Dung (SE190745) | AMD Xilinx Vivado 2026.1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11274552" cy="5349240"/>
          </a:xfrm>
          <a:prstGeom prst="roundRect">
            <a:avLst>
              <a:gd name="adj" fmla="val 2000"/>
            </a:avLst>
          </a:prstGeom>
          <a:solidFill>
            <a:srgbClr val="141821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================================================================</a:t>
            </a:r>
          </a:p>
          <a:p>
            <a:pPr>
              <a:spcAft>
                <a:spcPts val="300"/>
              </a:spcAft>
              <a:defRPr sz="1600" b="1">
                <a:solidFill>
                  <a:srgbClr val="64D2FF"/>
                </a:solidFill>
                <a:latin typeface="Consolas"/>
              </a:defRPr>
            </a:pPr>
            <a:r>
              <a:t> STUDENT NAME : LE KY DUNG</a:t>
            </a:r>
          </a:p>
          <a:p>
            <a:pPr>
              <a:spcAft>
                <a:spcPts val="300"/>
              </a:spcAft>
              <a:defRPr sz="1600" b="1">
                <a:solidFill>
                  <a:srgbClr val="64D2FF"/>
                </a:solidFill>
                <a:latin typeface="Consolas"/>
              </a:defRPr>
            </a:pPr>
            <a:r>
              <a:t> ROLL NUMBER  : SE190745</a:t>
            </a:r>
          </a:p>
          <a:p>
            <a:pPr>
              <a:spcAft>
                <a:spcPts val="300"/>
              </a:spcAft>
              <a:defRPr sz="1600" b="1">
                <a:solidFill>
                  <a:srgbClr val="64D2FF"/>
                </a:solidFill>
                <a:latin typeface="Consolas"/>
              </a:defRPr>
            </a:pPr>
            <a:r>
              <a:t> PROJECT      : 4-BIT ALU SELF-CHECKING TESTBENCH</a:t>
            </a:r>
          </a:p>
          <a:p>
            <a:pPr>
              <a:spcAft>
                <a:spcPts val="3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================================================================</a:t>
            </a:r>
          </a:p>
          <a:p>
            <a:pPr>
              <a:spcAft>
                <a:spcPts val="300"/>
              </a:spcAft>
              <a:defRPr sz="1600" b="1">
                <a:solidFill>
                  <a:srgbClr val="FFFFFF"/>
                </a:solidFill>
                <a:latin typeface="Consolas"/>
              </a:defRPr>
            </a:pPr>
            <a:r>
              <a:t>--- PART 1: COMBINATIONAL OPERATIONS (OPCODES 0 TO 7) ---</a:t>
            </a:r>
          </a:p>
          <a:p>
            <a:pPr>
              <a:spcAft>
                <a:spcPts val="300"/>
              </a:spcAft>
              <a:defRPr sz="1500" b="0">
                <a:solidFill>
                  <a:srgbClr val="4AF626"/>
                </a:solidFill>
                <a:latin typeface="Consolas"/>
              </a:defRPr>
            </a:pPr>
            <a:r>
              <a:t>[OK] ADD (5 + 3)   | a=5, b=3   | Result=08 | C=0 Z=0 V=1 N=1</a:t>
            </a:r>
          </a:p>
          <a:p>
            <a:pPr>
              <a:spcAft>
                <a:spcPts val="300"/>
              </a:spcAft>
              <a:defRPr sz="1500" b="0">
                <a:solidFill>
                  <a:srgbClr val="4AF626"/>
                </a:solidFill>
                <a:latin typeface="Consolas"/>
              </a:defRPr>
            </a:pPr>
            <a:r>
              <a:t>[OK] SUB (9 - 4)   | a=9, b=4   | Result=05 | C=1 Z=0 V=1 N=0   ... [Opcodes 2 to 7 all OK]</a:t>
            </a:r>
          </a:p>
          <a:p>
            <a:pPr>
              <a:spcAft>
                <a:spcPts val="300"/>
              </a:spcAft>
              <a:defRPr sz="1600" b="1">
                <a:solidFill>
                  <a:srgbClr val="FFFFFF"/>
                </a:solidFill>
                <a:latin typeface="Consolas"/>
              </a:defRPr>
            </a:pPr>
            <a:r>
              <a:t>--- PART 2: SEQUENTIAL MUL/DIV OPERATIONS (OPCODES 8 TO 9) ---</a:t>
            </a:r>
          </a:p>
          <a:p>
            <a:pPr>
              <a:spcAft>
                <a:spcPts val="300"/>
              </a:spcAft>
              <a:defRPr sz="1500" b="0">
                <a:solidFill>
                  <a:srgbClr val="4AF626"/>
                </a:solidFill>
                <a:latin typeface="Consolas"/>
              </a:defRPr>
            </a:pPr>
            <a:r>
              <a:t>[OK] MUL (7 * 6)   | a=7, b=6   | Result=2a (42 Dec, 4 clock cycles, done=1 at 225 ns)</a:t>
            </a:r>
          </a:p>
          <a:p>
            <a:pPr>
              <a:spcAft>
                <a:spcPts val="300"/>
              </a:spcAft>
              <a:defRPr sz="1500" b="0">
                <a:solidFill>
                  <a:srgbClr val="4AF626"/>
                </a:solidFill>
                <a:latin typeface="Consolas"/>
              </a:defRPr>
            </a:pPr>
            <a:r>
              <a:t>[OK] DIV (13 / 3)  | a=13, b=3  | Result=14 (Remainder=1, Quotient=4, done=1 at 295 ns)</a:t>
            </a:r>
          </a:p>
          <a:p>
            <a:pPr>
              <a:spcAft>
                <a:spcPts val="300"/>
              </a:spcAft>
              <a:defRPr sz="1500" b="0">
                <a:solidFill>
                  <a:srgbClr val="4AF626"/>
                </a:solidFill>
                <a:latin typeface="Consolas"/>
              </a:defRPr>
            </a:pPr>
            <a:r>
              <a:t>[OK] DIV_BY_ZERO (8 / 0) | div_by_zero=1 | Output Held=14 (Verified at 315 ns)</a:t>
            </a:r>
          </a:p>
          <a:p>
            <a:pPr>
              <a:spcAft>
                <a:spcPts val="3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================================================================</a:t>
            </a:r>
          </a:p>
          <a:p>
            <a:pPr>
              <a:spcAft>
                <a:spcPts val="300"/>
              </a:spcAft>
              <a:defRPr sz="1600" b="1">
                <a:solidFill>
                  <a:srgbClr val="4AF626"/>
                </a:solidFill>
                <a:latin typeface="Consolas"/>
              </a:defRPr>
            </a:pPr>
            <a:r>
              <a:t> PASS: ALL 11 TEST CASES VERIFIED SUCCESSFULLY (0 ERRORS)</a:t>
            </a:r>
          </a:p>
          <a:p>
            <a:pPr>
              <a:spcAft>
                <a:spcPts val="3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================================================================</a:t>
            </a:r>
          </a:p>
          <a:p>
            <a:pPr>
              <a:spcAft>
                <a:spcPts val="300"/>
              </a:spcAft>
              <a:defRPr sz="1500" b="0">
                <a:solidFill>
                  <a:srgbClr val="B4B4B4"/>
                </a:solidFill>
                <a:latin typeface="Consolas"/>
              </a:defRPr>
            </a:pPr>
            <a:r>
              <a:t>$finish called at time : 385 ns : File '.../ALU_4bit_SE190745.srcs/sim_1/new/alu_4bit_tb.v' Line 113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Part C: Simulation Truth / Step Table Matched with Waveforms (10 Marks)</a:t>
            </a:r>
          </a:p>
          <a:p>
            <a:pPr>
              <a:defRPr sz="1200">
                <a:solidFill>
                  <a:srgbClr val="BED7FF"/>
                </a:solidFill>
              </a:defRPr>
            </a:pPr>
            <a:r>
              <a:t>P1 Project: ALU_4bit_SE190745 | Le Ky Dung (SE190745) | AMD Xilinx Vivado 2026.1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78992"/>
          <a:ext cx="11548872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685800"/>
                <a:gridCol w="777240"/>
                <a:gridCol w="1417320"/>
                <a:gridCol w="685800"/>
                <a:gridCol w="685800"/>
                <a:gridCol w="1234440"/>
                <a:gridCol w="868680"/>
                <a:gridCol w="4187952"/>
              </a:tblGrid>
              <a:tr h="42203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Time (ns)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Opcode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Binary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Operation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a (Dec)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b (Dec)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result[7:0]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CZVN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Waveform Verification Notes (F3 &amp; F4)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</a:tr>
              <a:tr h="42203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0-20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0000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RESET (rst=1)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00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0100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Initializes all registers to zero; Z=1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</a:tr>
              <a:tr h="42203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20-40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ADD (a + 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08 (8)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0011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Cursor at 20 ns; signed 4-bit overflow (+5+3 = -8)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03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40-60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0001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SUB (a - b)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05 (5)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1010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carry=1 (no borrow); signed underflow (-7-4 = -11)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</a:tr>
              <a:tr h="42203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60-80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0010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AND (a &amp; 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08 (8)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0001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1100 &amp; 1010 = 1000 (result[3] = 1 -&gt; N=1)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03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80-100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0011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OR (a | b)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0f (15)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0001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1100 | 0011 = 1111 (result[3] = 1 -&gt; N=1)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</a:tr>
              <a:tr h="42203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100-120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0100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XOR (a ^ 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06 (6)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1100 ^ 1010 = 0110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03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120-140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0101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NOT (~a)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05 (5)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0000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~1010 = 0101 (unary operation, ignores b=10)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</a:tr>
              <a:tr h="42203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140-160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0110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SHL (a &lt;&lt;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06 (6)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0011 &lt;&lt; 1 = 0110, carry = a[3] =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03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160-180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0111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SHR (a &gt;&gt; 1)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06 (6)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0000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1100 &gt;&gt; 1 = 0110, carry = a[0] = 0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</a:tr>
              <a:tr h="42203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180-235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1000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MUL (a * 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2a (42)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busy=1 (185-225 ns), done=1 pulse at 225 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03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245-305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1001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DIV (a / b)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14 (R=1,Q=4)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0000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busy=1 (255-295 ns), done=1 pulse at 295 ns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</a:tr>
              <a:tr h="422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305-385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1001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DIV (a / 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Holds 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1919"/>
                          </a:solidFill>
                        </a:defRPr>
                      </a:pPr>
                      <a:r>
                        <a:t>div_by_zero=1, done=1 at 315 ns (bypasses loop)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Part D &amp; E: Step 1 (F1): Project Creation &amp; Hierarchical RTL Entry</a:t>
            </a:r>
          </a:p>
          <a:p>
            <a:pPr>
              <a:defRPr sz="1200">
                <a:solidFill>
                  <a:srgbClr val="BED7FF"/>
                </a:solidFill>
              </a:defRPr>
            </a:pPr>
            <a:r>
              <a:t>P1 Project: ALU_4bit_SE190745 | Le Ky Dung (SE190745) | AMD Xilinx Vivado 2026.1</a:t>
            </a:r>
          </a:p>
        </p:txBody>
      </p:sp>
      <p:pic>
        <p:nvPicPr>
          <p:cNvPr id="4" name="Picture 3" descr="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7406640" cy="416623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143000"/>
            <a:ext cx="4023360" cy="539496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28431" y="1271016"/>
            <a:ext cx="369417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 b="1">
                <a:solidFill>
                  <a:srgbClr val="0066CC"/>
                </a:solidFill>
              </a:defRPr>
            </a:pPr>
            <a:r>
              <a:t>Flow Explanation (20 Marks)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• 1. What this step did: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    – Created project ALU_4bit_SE190745 for Artix-7 (xc7a100tcsg324-1) and linked 8 Verilog modules.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• 2. What we saw in F1: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    – 6 submodules under alu_4bit, testbench header (SE190745), and '0' syntax errors.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• 3. What it means: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    – All module/port declarations match design rules and are ready for elaboration.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5440680"/>
            <a:ext cx="7406640" cy="1097280"/>
          </a:xfrm>
          <a:prstGeom prst="roundRect">
            <a:avLst/>
          </a:prstGeom>
          <a:solidFill>
            <a:srgbClr val="E8F4EC"/>
          </a:solidFill>
          <a:ln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107C41"/>
                </a:solidFill>
              </a:defRPr>
            </a:pPr>
            <a:r>
              <a:t>✔ Marking Scheme Check (F1.png): Full-window capture | Project name 'ALU_4bit_SE190745' visible in title bar | Verified in Vivado 2026.1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Part D &amp; E: Step 2 (F2): RTL Elaboration &amp; Static Linter Verification</a:t>
            </a:r>
          </a:p>
          <a:p>
            <a:pPr>
              <a:defRPr sz="1200">
                <a:solidFill>
                  <a:srgbClr val="BED7FF"/>
                </a:solidFill>
              </a:defRPr>
            </a:pPr>
            <a:r>
              <a:t>P1 Project: ALU_4bit_SE190745 | Le Ky Dung (SE190745) | AMD Xilinx Vivado 2026.1</a:t>
            </a:r>
          </a:p>
        </p:txBody>
      </p:sp>
      <p:pic>
        <p:nvPicPr>
          <p:cNvPr id="4" name="Picture 3" descr="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7406640" cy="416623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143000"/>
            <a:ext cx="4023360" cy="539496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28431" y="1271016"/>
            <a:ext cx="369417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 b="1">
                <a:solidFill>
                  <a:srgbClr val="0066CC"/>
                </a:solidFill>
              </a:defRPr>
            </a:pPr>
            <a:r>
              <a:t>Flow Explanation (20 Marks)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• 1. What this step did: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    – Translated Verilog RTL into a gate/block schematic and ran static Linter analysis.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• 2. What we saw in F2: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    – 10 cells (6 submodules + 4 MUXes), 30 I/O ports, 92 nets, and Linter note ASSIGN-10#1.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• 3. What it means: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    – Zero unintended latches. ASSIGN-10#1 is expected as flag_unit only reads a[3] and a[0].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5440680"/>
            <a:ext cx="7406640" cy="1097280"/>
          </a:xfrm>
          <a:prstGeom prst="roundRect">
            <a:avLst/>
          </a:prstGeom>
          <a:solidFill>
            <a:srgbClr val="E8F4EC"/>
          </a:solidFill>
          <a:ln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107C41"/>
                </a:solidFill>
              </a:defRPr>
            </a:pPr>
            <a:r>
              <a:t>✔ Marking Scheme Check (F2.png): Full-window capture | Project name 'ALU_4bit_SE190745' visible in title bar | Verified in Vivado 2026.1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Part D &amp; E: Step 3 (F3): Behavioral Simulation – Part 1 Combinational</a:t>
            </a:r>
          </a:p>
          <a:p>
            <a:pPr>
              <a:defRPr sz="1200">
                <a:solidFill>
                  <a:srgbClr val="BED7FF"/>
                </a:solidFill>
              </a:defRPr>
            </a:pPr>
            <a:r>
              <a:t>P1 Project: ALU_4bit_SE190745 | Le Ky Dung (SE190745) | AMD Xilinx Vivado 2026.1</a:t>
            </a:r>
          </a:p>
        </p:txBody>
      </p:sp>
      <p:pic>
        <p:nvPicPr>
          <p:cNvPr id="4" name="Picture 3" descr="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7406640" cy="416623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143000"/>
            <a:ext cx="4023360" cy="539496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28431" y="1271016"/>
            <a:ext cx="369417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 b="1">
                <a:solidFill>
                  <a:srgbClr val="0066CC"/>
                </a:solidFill>
              </a:defRPr>
            </a:pPr>
            <a:r>
              <a:t>Flow Explanation (20 Marks)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• 1. What this step did: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    – Simulated single-cycle combinational opcodes 0 to 7 (0 ns to 220 ns) in XSim.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• 2. What we saw in F3: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    – Cursor at 20 ns (ADD: 5+3=08, V=1, N=1) and Tcl Console showing LE KY DUNG - SE190745.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• 3. What it means: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    – Instantaneous combinational response and exact 2's complement flag calculation.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5440680"/>
            <a:ext cx="7406640" cy="1097280"/>
          </a:xfrm>
          <a:prstGeom prst="roundRect">
            <a:avLst/>
          </a:prstGeom>
          <a:solidFill>
            <a:srgbClr val="E8F4EC"/>
          </a:solidFill>
          <a:ln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107C41"/>
                </a:solidFill>
              </a:defRPr>
            </a:pPr>
            <a:r>
              <a:t>✔ Marking Scheme Check (F3.png): Full-window capture | Project name 'ALU_4bit_SE190745' visible in title bar | Verified in Vivado 2026.1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Part D &amp; E: Step 4 (F4): Behavioral Simulation – Part 2 Sequential &amp; PASS</a:t>
            </a:r>
          </a:p>
          <a:p>
            <a:pPr>
              <a:defRPr sz="1200">
                <a:solidFill>
                  <a:srgbClr val="BED7FF"/>
                </a:solidFill>
              </a:defRPr>
            </a:pPr>
            <a:r>
              <a:t>P1 Project: ALU_4bit_SE190745 | Le Ky Dung (SE190745) | AMD Xilinx Vivado 2026.1</a:t>
            </a:r>
          </a:p>
        </p:txBody>
      </p:sp>
      <p:pic>
        <p:nvPicPr>
          <p:cNvPr id="4" name="Picture 3" descr="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7406640" cy="416623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143000"/>
            <a:ext cx="4023360" cy="539496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28431" y="1271016"/>
            <a:ext cx="369417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 b="1">
                <a:solidFill>
                  <a:srgbClr val="0066CC"/>
                </a:solidFill>
              </a:defRPr>
            </a:pPr>
            <a:r>
              <a:t>Flow Explanation (20 Marks)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• 1. What this step did: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    – Verified 4-cycle MUL (op=8), Restoring DIV (op=9), and Divide-by-Zero (180–385 ns).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• 2. What we saw in F4: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    – 7*6=2a_hex (225 ns), 13/3=14_hex (295 ns), 8/0 -&gt; div_by_zero=1, and PASS (0 ERRORS).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• 3. What it means: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    – Confirms multi-cycle FSM handshaking, shared-adder operation, and 0 verification errors.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5440680"/>
            <a:ext cx="7406640" cy="1097280"/>
          </a:xfrm>
          <a:prstGeom prst="roundRect">
            <a:avLst/>
          </a:prstGeom>
          <a:solidFill>
            <a:srgbClr val="E8F4EC"/>
          </a:solidFill>
          <a:ln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107C41"/>
                </a:solidFill>
              </a:defRPr>
            </a:pPr>
            <a:r>
              <a:t>✔ Marking Scheme Check (F4.png): Full-window capture | Project name 'ALU_4bit_SE190745' visible in title bar | Verified in Vivado 2026.1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Part D &amp; E: Step 5 (F5): Synthesis &amp; Post-Implementation Resource/Power</a:t>
            </a:r>
          </a:p>
          <a:p>
            <a:pPr>
              <a:defRPr sz="1200">
                <a:solidFill>
                  <a:srgbClr val="BED7FF"/>
                </a:solidFill>
              </a:defRPr>
            </a:pPr>
            <a:r>
              <a:t>P1 Project: ALU_4bit_SE190745 | Le Ky Dung (SE190745) | AMD Xilinx Vivado 2026.1</a:t>
            </a:r>
          </a:p>
        </p:txBody>
      </p:sp>
      <p:pic>
        <p:nvPicPr>
          <p:cNvPr id="4" name="Picture 3" descr="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7406640" cy="416623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143000"/>
            <a:ext cx="4023360" cy="539496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28431" y="1271016"/>
            <a:ext cx="369417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 b="1">
                <a:solidFill>
                  <a:srgbClr val="0066CC"/>
                </a:solidFill>
              </a:defRPr>
            </a:pPr>
            <a:r>
              <a:t>Flow Explanation (20 Marks)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• 1. What this step did: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    – Synthesized and mapped the ALU onto physical Artix-7 FPGA primitives.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• 2. What we saw in F5: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    – Only 60 LUTs (0.09%), 26 Flip-Flops (0.02%), 30 IOBs (14.29%), 1 BUFG (3.13%).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• 3. What it means: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    – Shared-adder architecture achieves ultra-low area. Timing is NA (standalone IP without .xdc).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5440680"/>
            <a:ext cx="7406640" cy="1097280"/>
          </a:xfrm>
          <a:prstGeom prst="roundRect">
            <a:avLst/>
          </a:prstGeom>
          <a:solidFill>
            <a:srgbClr val="E8F4EC"/>
          </a:solidFill>
          <a:ln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107C41"/>
                </a:solidFill>
              </a:defRPr>
            </a:pPr>
            <a:r>
              <a:t>✔ Marking Scheme Check (F5.png): Full-window capture | Project name 'ALU_4bit_SE190745' visible in title bar | Verified in Vivado 2026.1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Part D &amp; E: Step 6 (F6): Physical Place-and-Route on FPGA Die &amp; Conclusion</a:t>
            </a:r>
          </a:p>
          <a:p>
            <a:pPr>
              <a:defRPr sz="1200">
                <a:solidFill>
                  <a:srgbClr val="BED7FF"/>
                </a:solidFill>
              </a:defRPr>
            </a:pPr>
            <a:r>
              <a:t>P1 Project: ALU_4bit_SE190745 | Le Ky Dung (SE190745) | AMD Xilinx Vivado 2026.1</a:t>
            </a:r>
          </a:p>
        </p:txBody>
      </p:sp>
      <p:pic>
        <p:nvPicPr>
          <p:cNvPr id="4" name="Picture 3" descr="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7406640" cy="416623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143000"/>
            <a:ext cx="4023360" cy="539496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28431" y="1271016"/>
            <a:ext cx="369417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 b="1">
                <a:solidFill>
                  <a:srgbClr val="0066CC"/>
                </a:solidFill>
              </a:defRPr>
            </a:pPr>
            <a:r>
              <a:t>Flow Explanation (20 Marks)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• 1. What this step did: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    – Placed and routed all logic cells and I/O nets onto the xc7a100tcsg324-1 silicon die.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• 2. What we saw in F6: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    – Placement inside Clock Region X0Y1 at tile CLBLM_R_X3Y63 (SLICE_X2Y63, SLICE_X3Y63).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• 3. What it means: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</a:defRPr>
            </a:pPr>
            <a:r>
              <a:t>    – Compact physical layout adjacent to I/O bank; full FPGA design flow completed with 0 errors.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5440680"/>
            <a:ext cx="7406640" cy="1097280"/>
          </a:xfrm>
          <a:prstGeom prst="roundRect">
            <a:avLst/>
          </a:prstGeom>
          <a:solidFill>
            <a:srgbClr val="E8F4EC"/>
          </a:solidFill>
          <a:ln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107C41"/>
                </a:solidFill>
              </a:defRPr>
            </a:pPr>
            <a:r>
              <a:t>✔ Marking Scheme Check (F6.png): Full-window capture | Project name 'ALU_4bit_SE190745' visible in title bar | Verified in Vivado 2026.1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